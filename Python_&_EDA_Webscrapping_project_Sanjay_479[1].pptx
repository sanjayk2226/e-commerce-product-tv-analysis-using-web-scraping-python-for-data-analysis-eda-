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59" r:id="rId25"/>
  </p:sldIdLst>
  <p:sldSz cx="12192000" cy="6858000"/>
  <p:notesSz cx="6858000" cy="9144000"/>
  <p:embeddedFontLst>
    <p:embeddedFont>
      <p:font typeface="Calibri" panose="020F0502020204030204"/>
      <p:regular r:id="rId29"/>
    </p:embeddedFont>
    <p:embeddedFont>
      <p:font typeface="Lato Black" panose="020F0802020204030203"/>
      <p:bold r:id="rId30"/>
      <p:boldItalic r:id="rId31"/>
    </p:embeddedFont>
    <p:embeddedFont>
      <p:font typeface="Libre Baskerville" panose="0200000000000000000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5" y="0"/>
            <a:ext cx="12237085" cy="702183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690" y="3717290"/>
            <a:ext cx="7172960" cy="330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Titl</a:t>
            </a:r>
            <a:r>
              <a:rPr lang="en-IN" alt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e:</a:t>
            </a:r>
            <a:endParaRPr lang="en-US" altLang="en-US"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TV’s(television)</a:t>
            </a:r>
            <a:r>
              <a:rPr lang="en-US" alt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Market Analysis using Python Web</a:t>
            </a:r>
            <a:r>
              <a:rPr lang="en-US" alt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Scraping &amp; EDA</a:t>
            </a:r>
            <a:endParaRPr lang="en-US" alt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Subtitle:</a:t>
            </a:r>
            <a:endParaRPr lang="en-US" alt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Exploratory Data Analysis Project</a:t>
            </a:r>
            <a:r>
              <a:rPr lang="en-IN" alt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IN" alt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sanjay kommuju -- 479 batch </a:t>
            </a:r>
            <a:endParaRPr lang="en-IN" alt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alt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507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1.Background - B.tech in mechanical engineering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Why you want to learn Data Science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(actually my course is data analyst , </a:t>
            </a:r>
            <a:r>
              <a:rPr lang="en-US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transitioning into the IT and Data Analytics domain. Hands-on exposure to AWS  Trainee role</a:t>
            </a:r>
            <a:r>
              <a:rPr lang="en-IN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currently undergoing Data Analytics </a:t>
            </a:r>
            <a:r>
              <a:rPr lang="en-IN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because of i much interested </a:t>
            </a:r>
            <a:r>
              <a:rPr lang="en-US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 analytics and data-driven roles</a:t>
            </a:r>
            <a:r>
              <a:rPr lang="en-IN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Any work experience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IN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(experience  as </a:t>
            </a:r>
            <a:r>
              <a:rPr lang="en-US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 AWS Engineer Trainee</a:t>
            </a:r>
            <a:r>
              <a:rPr lang="en-IN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role </a:t>
            </a:r>
            <a:r>
              <a:rPr lang="en-IN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sonix IT solutins </a:t>
            </a:r>
            <a:endParaRPr lang="en-IN" altLang="en-US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Experience working with dashboards, logs, and automation, which built strong analytical and problem-solving </a:t>
            </a:r>
            <a:endParaRPr lang="en-US" altLang="en-US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Passionate about turning raw data into clear insights and building dashboards for business decisions.</a:t>
            </a:r>
            <a:r>
              <a:rPr lang="en-IN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)</a:t>
            </a:r>
            <a:endParaRPr lang="en-IN"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sz="1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4.Share your linkedin and github profile urls</a:t>
            </a:r>
            <a:endParaRPr lang="en-IN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IN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linkedlin url --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www.linkedin.com/in/sanjay-kommuju-99ba24251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IN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github url -- </a:t>
            </a:r>
            <a:r>
              <a:rPr lang="en-US" alt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https://github.com/sanjayk2226</a:t>
            </a:r>
            <a:endParaRPr lang="en-US" altLang="en-US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b="1">
                <a:solidFill>
                  <a:srgbClr val="FF0000"/>
                </a:solidFill>
              </a:rPr>
              <a:t>Agenda: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/>
          <p:nvPr>
            <p:ph type="body" idx="1"/>
          </p:nvPr>
        </p:nvSpPr>
        <p:spPr>
          <a:xfrm>
            <a:off x="98425" y="982980"/>
            <a:ext cx="11381105" cy="579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665" b="1">
                <a:solidFill>
                  <a:srgbClr val="00B0F0"/>
                </a:solidFill>
              </a:rPr>
              <a:t> Business Problem and Use case domain understanding: </a:t>
            </a:r>
            <a:endParaRPr lang="en-IN" sz="4665" b="1">
              <a:solidFill>
                <a:srgbClr val="00B0F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In the competitive</a:t>
            </a:r>
            <a:r>
              <a:rPr lang="en-IN" altLang="en-US" b="1"/>
              <a:t> </a:t>
            </a:r>
            <a:r>
              <a:rPr lang="en-US" altLang="en-US" b="1"/>
              <a:t> </a:t>
            </a:r>
            <a:r>
              <a:rPr lang="en-IN" altLang="en-US" b="1"/>
              <a:t>television </a:t>
            </a:r>
            <a:r>
              <a:rPr lang="en-US" altLang="en-US" b="1"/>
              <a:t> market, pricing and product ratings influence customer buying decisions.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altLang="en-US" b="1"/>
              <a:t>sellers </a:t>
            </a:r>
            <a:r>
              <a:rPr lang="en-US" altLang="en-US" b="1"/>
              <a:t> need to understand: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Which brands dominate the market?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How pricing impacts ratings?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What products are most available?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>
              <a:solidFill>
                <a:srgbClr val="00B0F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600" b="1">
                <a:solidFill>
                  <a:srgbClr val="00B0F0"/>
                </a:solidFill>
              </a:rPr>
              <a:t>Use Case:</a:t>
            </a:r>
            <a:endParaRPr lang="en-US" altLang="en-US" sz="5600" b="1">
              <a:solidFill>
                <a:srgbClr val="00B0F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If I am a: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Retail Analyst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E-commerce Business Analyst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Market Research Analyst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en-US" b="1"/>
              <a:t>This analysis helps optimize pricing </a:t>
            </a:r>
            <a:r>
              <a:rPr lang="en-IN" altLang="en-US" b="1"/>
              <a:t>,brands and customer point of view</a:t>
            </a:r>
            <a:endParaRPr lang="en-US" altLang="en-US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IN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IN" b="1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IN" b="1"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rgbClr val="FF0000"/>
                </a:solidFill>
              </a:rPr>
              <a:t>Objective of the Project</a:t>
            </a:r>
            <a:r>
              <a:rPr lang="en-IN" altLang="en-US">
                <a:solidFill>
                  <a:srgbClr val="FF0000"/>
                </a:solidFill>
              </a:rPr>
              <a:t>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556260" y="1383030"/>
            <a:ext cx="10870565" cy="4453255"/>
          </a:xfrm>
        </p:spPr>
        <p:txBody>
          <a:bodyPr/>
          <a:p>
            <a:r>
              <a:rPr lang="en-US" altLang="en-US"/>
              <a:t>Scrape </a:t>
            </a:r>
            <a:r>
              <a:rPr lang="en-IN" altLang="en-US"/>
              <a:t>TV’s </a:t>
            </a:r>
            <a:r>
              <a:rPr lang="en-US" altLang="en-US"/>
              <a:t> product data from an e-commerce website</a:t>
            </a:r>
            <a:r>
              <a:rPr lang="en-IN" altLang="en-US"/>
              <a:t>(flipkat)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Extract price, rating,</a:t>
            </a:r>
            <a:r>
              <a:rPr lang="en-IN" altLang="en-US"/>
              <a:t> BrandName, Reviews and </a:t>
            </a:r>
            <a:r>
              <a:rPr lang="en-US" altLang="en-US"/>
              <a:t> </a:t>
            </a:r>
            <a:r>
              <a:rPr lang="en-IN" altLang="en-US"/>
              <a:t>discount </a:t>
            </a:r>
            <a:r>
              <a:rPr lang="en-US" altLang="en-US"/>
              <a:t> information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Perform exploratory data analysis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Generate business insights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sz="3110">
                <a:solidFill>
                  <a:srgbClr val="FF0000"/>
                </a:solidFill>
              </a:rPr>
              <a:t>Web Scraping – Details (Websites, Processor you followed) </a:t>
            </a:r>
            <a:br>
              <a:rPr lang="en-US" altLang="en-US" sz="3110">
                <a:solidFill>
                  <a:srgbClr val="FF0000"/>
                </a:solidFill>
              </a:rPr>
            </a:br>
            <a:r>
              <a:rPr lang="en-US" altLang="en-US" sz="3110">
                <a:solidFill>
                  <a:srgbClr val="FF0000"/>
                </a:solidFill>
              </a:rPr>
              <a:t>Summary of the Data </a:t>
            </a:r>
            <a:r>
              <a:rPr lang="en-IN" altLang="en-US" sz="3110">
                <a:solidFill>
                  <a:srgbClr val="FF0000"/>
                </a:solidFill>
              </a:rPr>
              <a:t>:</a:t>
            </a:r>
            <a:endParaRPr lang="en-IN" altLang="en-US" sz="311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299085" y="1457960"/>
            <a:ext cx="11363960" cy="5329555"/>
          </a:xfrm>
        </p:spPr>
        <p:txBody>
          <a:bodyPr>
            <a:normAutofit lnSpcReduction="20000"/>
          </a:bodyPr>
          <a:p>
            <a:r>
              <a:rPr lang="en-US" altLang="en-US" sz="3200">
                <a:solidFill>
                  <a:srgbClr val="00B0F0"/>
                </a:solidFill>
              </a:rPr>
              <a:t>Website Used</a:t>
            </a:r>
            <a:r>
              <a:rPr lang="en-US" altLang="en-US" sz="3200"/>
              <a:t>:</a:t>
            </a:r>
            <a:r>
              <a:rPr lang="en-IN" altLang="en-US" sz="3200"/>
              <a:t>  </a:t>
            </a:r>
            <a:r>
              <a:rPr lang="en-US" altLang="en-US" sz="3200"/>
              <a:t>https://www.flipkart.com/</a:t>
            </a:r>
            <a:endParaRPr lang="en-US" altLang="en-US" sz="3200"/>
          </a:p>
          <a:p>
            <a:r>
              <a:rPr lang="en-IN" altLang="en-US" sz="3200"/>
              <a:t>tools :</a:t>
            </a:r>
            <a:endParaRPr lang="en-US" altLang="en-US" sz="3200"/>
          </a:p>
          <a:p>
            <a:r>
              <a:rPr lang="en-US" altLang="en-US" sz="1800"/>
              <a:t>requests</a:t>
            </a:r>
            <a:endParaRPr lang="en-US" altLang="en-US" sz="1800"/>
          </a:p>
          <a:p>
            <a:r>
              <a:rPr lang="en-US" altLang="en-US" sz="1800"/>
              <a:t>BeautifulSoup</a:t>
            </a:r>
            <a:endParaRPr lang="en-US" altLang="en-US" sz="1800"/>
          </a:p>
          <a:p>
            <a:r>
              <a:rPr lang="en-US" altLang="en-US" sz="1800"/>
              <a:t>pandas</a:t>
            </a:r>
            <a:endParaRPr lang="en-US" altLang="en-US" sz="1800"/>
          </a:p>
          <a:p>
            <a:r>
              <a:rPr lang="en-IN" altLang="en-US" sz="1800"/>
              <a:t>soup </a:t>
            </a:r>
            <a:endParaRPr lang="en-IN" altLang="en-US" sz="1800"/>
          </a:p>
          <a:p>
            <a:r>
              <a:rPr lang="en-IN" altLang="en-US"/>
              <a:t>for visualization :</a:t>
            </a:r>
            <a:endParaRPr lang="en-IN" altLang="en-US"/>
          </a:p>
          <a:p>
            <a:r>
              <a:rPr lang="en-US" altLang="en-US" sz="1800"/>
              <a:t> matplotlib.pyplo</a:t>
            </a:r>
            <a:r>
              <a:rPr lang="en-IN" altLang="en-US" sz="1800"/>
              <a:t>t</a:t>
            </a:r>
            <a:endParaRPr lang="en-IN" altLang="en-US" sz="1800"/>
          </a:p>
          <a:p>
            <a:r>
              <a:rPr lang="en-IN" altLang="en-US" sz="1800"/>
              <a:t>seaborn </a:t>
            </a:r>
            <a:endParaRPr lang="en-IN" altLang="en-US" sz="1800"/>
          </a:p>
          <a:p>
            <a:r>
              <a:rPr lang="en-IN" altLang="en-US" sz="1800"/>
              <a:t>bar plot </a:t>
            </a:r>
            <a:endParaRPr lang="en-IN" altLang="en-US" sz="1800"/>
          </a:p>
          <a:p>
            <a:r>
              <a:rPr lang="en-IN" altLang="en-US" sz="1800"/>
              <a:t>histogram </a:t>
            </a:r>
            <a:endParaRPr lang="en-IN" altLang="en-US" sz="1800"/>
          </a:p>
          <a:p>
            <a:r>
              <a:rPr lang="en-IN" altLang="en-US" sz="1800"/>
              <a:t>pie chart</a:t>
            </a:r>
            <a:endParaRPr lang="en-IN" altLang="en-US" sz="1800"/>
          </a:p>
          <a:p>
            <a:r>
              <a:rPr lang="en-IN" altLang="en-US" sz="1800"/>
              <a:t>scatter plot </a:t>
            </a:r>
            <a:endParaRPr lang="en-IN" altLang="en-US" sz="1800"/>
          </a:p>
          <a:p>
            <a:r>
              <a:rPr lang="en-IN" altLang="en-US" sz="1800"/>
              <a:t>heatmap </a:t>
            </a:r>
            <a:endParaRPr lang="en-US" altLang="en-US" sz="3200"/>
          </a:p>
          <a:p>
            <a:endParaRPr lang="en-US" altLang="en-US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olidFill>
                  <a:srgbClr val="FF0000"/>
                </a:solidFill>
              </a:rPr>
              <a:t>Process Followed: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104140" y="955675"/>
            <a:ext cx="11249660" cy="5873750"/>
          </a:xfrm>
        </p:spPr>
        <p:txBody>
          <a:bodyPr>
            <a:normAutofit fontScale="90000"/>
          </a:bodyPr>
          <a:p>
            <a:pPr marL="114300" indent="0">
              <a:buNone/>
            </a:pPr>
            <a:r>
              <a:rPr lang="en-IN" altLang="en-US" sz="2400"/>
              <a:t>1.</a:t>
            </a:r>
            <a:r>
              <a:rPr lang="en-US" altLang="en-US" sz="2400"/>
              <a:t>Sent HTTP request to website</a:t>
            </a:r>
            <a:endParaRPr lang="en-US" altLang="en-US" sz="2400"/>
          </a:p>
          <a:p>
            <a:pPr marL="114300" indent="0">
              <a:buNone/>
            </a:pPr>
            <a:r>
              <a:rPr lang="en-IN" altLang="en-US" sz="2400"/>
              <a:t>2.</a:t>
            </a:r>
            <a:r>
              <a:rPr lang="en-US" altLang="en-US" sz="2400"/>
              <a:t>Parsed HTML using BeautifulSoup</a:t>
            </a:r>
            <a:endParaRPr lang="en-US" altLang="en-US" sz="2400"/>
          </a:p>
          <a:p>
            <a:pPr marL="114300" indent="0">
              <a:buNone/>
            </a:pPr>
            <a:r>
              <a:rPr lang="en-IN" altLang="en-US" sz="2400"/>
              <a:t>3. </a:t>
            </a:r>
            <a:r>
              <a:rPr lang="en-US" altLang="en-US" sz="2400"/>
              <a:t>Extracted:</a:t>
            </a:r>
            <a:endParaRPr lang="en-US" altLang="en-US" sz="2400"/>
          </a:p>
          <a:p>
            <a:pPr marL="114300" indent="0">
              <a:buNone/>
            </a:pPr>
            <a:r>
              <a:rPr lang="en-IN" altLang="en-US" sz="2400"/>
              <a:t>Brand</a:t>
            </a:r>
            <a:r>
              <a:rPr lang="en-US" altLang="en-US" sz="2400"/>
              <a:t>Name</a:t>
            </a:r>
            <a:endParaRPr lang="en-US" altLang="en-US" sz="2400"/>
          </a:p>
          <a:p>
            <a:pPr marL="114300" indent="0">
              <a:buNone/>
            </a:pPr>
            <a:r>
              <a:rPr lang="en-US" altLang="en-US" sz="2400"/>
              <a:t>Price</a:t>
            </a:r>
            <a:endParaRPr lang="en-US" altLang="en-US" sz="2400"/>
          </a:p>
          <a:p>
            <a:pPr marL="114300" indent="0">
              <a:buNone/>
            </a:pPr>
            <a:r>
              <a:rPr lang="en-US" altLang="en-US" sz="2400"/>
              <a:t>Rating</a:t>
            </a:r>
            <a:r>
              <a:rPr lang="en-IN" altLang="en-US" sz="2400"/>
              <a:t>s</a:t>
            </a:r>
            <a:endParaRPr lang="en-US" altLang="en-US" sz="2400"/>
          </a:p>
          <a:p>
            <a:pPr marL="114300" indent="0">
              <a:buNone/>
            </a:pPr>
            <a:r>
              <a:rPr lang="en-IN" altLang="en-US" sz="2400"/>
              <a:t>Reviews</a:t>
            </a:r>
            <a:endParaRPr lang="en-IN" altLang="en-US" sz="2400"/>
          </a:p>
          <a:p>
            <a:pPr marL="114300" indent="0">
              <a:buNone/>
            </a:pPr>
            <a:r>
              <a:rPr lang="en-IN" altLang="en-US" sz="2400"/>
              <a:t>Discount</a:t>
            </a:r>
            <a:endParaRPr lang="en-IN" altLang="en-US" sz="2400"/>
          </a:p>
          <a:p>
            <a:pPr marL="114300" indent="0">
              <a:buNone/>
            </a:pPr>
            <a:r>
              <a:rPr lang="en-IN" altLang="en-US" sz="2400"/>
              <a:t>Features</a:t>
            </a:r>
            <a:endParaRPr lang="en-IN" altLang="en-US" sz="2400"/>
          </a:p>
          <a:p>
            <a:pPr marL="114300" indent="0">
              <a:buNone/>
            </a:pPr>
            <a:r>
              <a:rPr lang="en-IN" altLang="en-US" sz="2400"/>
              <a:t>4.</a:t>
            </a:r>
            <a:r>
              <a:rPr lang="en-US" altLang="en-US" sz="2400"/>
              <a:t>Stored data into CSV file</a:t>
            </a:r>
            <a:endParaRPr lang="en-US" altLang="en-US" sz="2400"/>
          </a:p>
          <a:p>
            <a:pPr marL="114300" indent="0">
              <a:buNone/>
            </a:pPr>
            <a:r>
              <a:rPr lang="en-US" altLang="en-US" sz="2400"/>
              <a:t>Scraped </a:t>
            </a:r>
            <a:r>
              <a:rPr lang="en-IN" altLang="en-US" sz="2400"/>
              <a:t>552</a:t>
            </a:r>
            <a:r>
              <a:rPr lang="en-US" altLang="en-US" sz="2400"/>
              <a:t> products</a:t>
            </a:r>
            <a:r>
              <a:rPr lang="en-IN" altLang="en-US" sz="2400"/>
              <a:t>()</a:t>
            </a:r>
            <a:r>
              <a:rPr lang="en-US" altLang="en-US" sz="2400"/>
              <a:t> across multiple pages.</a:t>
            </a:r>
            <a:endParaRPr lang="en-US" altLang="en-US" sz="2400"/>
          </a:p>
          <a:p>
            <a:pPr marL="114300" indent="0">
              <a:buNone/>
            </a:pPr>
            <a:r>
              <a:rPr lang="en-IN" altLang="en-US" sz="2400"/>
              <a:t>rows- 552</a:t>
            </a:r>
            <a:endParaRPr lang="en-IN" altLang="en-US" sz="2400"/>
          </a:p>
          <a:p>
            <a:pPr marL="114300" indent="0">
              <a:buNone/>
            </a:pPr>
            <a:r>
              <a:rPr lang="en-IN" altLang="en-US" sz="2400"/>
              <a:t>columns -- 8</a:t>
            </a:r>
            <a:endParaRPr lang="en-IN" altLang="en-US" sz="2400"/>
          </a:p>
          <a:p>
            <a:pPr marL="114300" indent="0">
              <a:buNone/>
            </a:pPr>
            <a:endParaRPr lang="en-IN" alt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3627755" y="589534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olidFill>
                  <a:srgbClr val="FF0000"/>
                </a:solidFill>
              </a:rPr>
              <a:t>Summary of Data</a:t>
            </a:r>
            <a:r>
              <a:rPr lang="en-IN" altLang="en-US">
                <a:solidFill>
                  <a:srgbClr val="FF0000"/>
                </a:solidFill>
              </a:rPr>
              <a:t>: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511810" y="1285240"/>
            <a:ext cx="10841990" cy="4892040"/>
          </a:xfrm>
        </p:spPr>
        <p:txBody>
          <a:bodyPr>
            <a:normAutofit lnSpcReduction="20000"/>
          </a:bodyPr>
          <a:p>
            <a:r>
              <a:rPr lang="en-US" altLang="en-US"/>
              <a:t>Total Products: </a:t>
            </a:r>
            <a:r>
              <a:rPr lang="en-IN" altLang="en-US"/>
              <a:t>552 products of 24 pages </a:t>
            </a:r>
            <a:endParaRPr lang="en-IN" altLang="en-US"/>
          </a:p>
          <a:p>
            <a:r>
              <a:rPr lang="en-IN" altLang="en-US"/>
              <a:t>rows -- 552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Columns:</a:t>
            </a:r>
            <a:endParaRPr lang="en-US" altLang="en-US"/>
          </a:p>
          <a:p>
            <a:r>
              <a:rPr lang="en-IN" altLang="en-US"/>
              <a:t>BrandName</a:t>
            </a:r>
            <a:endParaRPr lang="en-US" altLang="en-US"/>
          </a:p>
          <a:p>
            <a:r>
              <a:rPr lang="en-US" altLang="en-US"/>
              <a:t>Price</a:t>
            </a:r>
            <a:endParaRPr lang="en-US" altLang="en-US"/>
          </a:p>
          <a:p>
            <a:r>
              <a:rPr lang="en-US" altLang="en-US"/>
              <a:t>Rating</a:t>
            </a:r>
            <a:r>
              <a:rPr lang="en-IN" altLang="en-US"/>
              <a:t>s</a:t>
            </a:r>
            <a:endParaRPr lang="en-US" altLang="en-US"/>
          </a:p>
          <a:p>
            <a:r>
              <a:rPr lang="en-IN" altLang="en-US"/>
              <a:t>Features</a:t>
            </a:r>
            <a:endParaRPr lang="en-IN" altLang="en-US"/>
          </a:p>
          <a:p>
            <a:r>
              <a:rPr lang="en-IN" altLang="en-US"/>
              <a:t>Discount</a:t>
            </a:r>
            <a:endParaRPr lang="en-IN" altLang="en-US"/>
          </a:p>
          <a:p>
            <a:r>
              <a:rPr lang="en-IN" altLang="en-US"/>
              <a:t>Pagenum</a:t>
            </a:r>
            <a:endParaRPr lang="en-IN" altLang="en-US"/>
          </a:p>
          <a:p>
            <a:r>
              <a:rPr lang="en-IN" altLang="en-US"/>
              <a:t>Rating_point</a:t>
            </a:r>
            <a:endParaRPr lang="en-IN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119380" y="86360"/>
            <a:ext cx="11234420" cy="872490"/>
          </a:xfrm>
        </p:spPr>
        <p:txBody>
          <a:bodyPr/>
          <a:p>
            <a:r>
              <a:rPr lang="en-US" altLang="en-US" sz="4000">
                <a:solidFill>
                  <a:srgbClr val="FF0000"/>
                </a:solidFill>
              </a:rPr>
              <a:t>Data Cleaning Steps</a:t>
            </a:r>
            <a:r>
              <a:rPr lang="en-IN" altLang="en-US" sz="4000">
                <a:solidFill>
                  <a:srgbClr val="FF0000"/>
                </a:solidFill>
              </a:rPr>
              <a:t>:</a:t>
            </a:r>
            <a:endParaRPr lang="en-IN" altLang="en-US" sz="400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192405" y="862965"/>
            <a:ext cx="11161395" cy="5314315"/>
          </a:xfrm>
        </p:spPr>
        <p:txBody>
          <a:bodyPr>
            <a:normAutofit lnSpcReduction="10000"/>
          </a:bodyPr>
          <a:p>
            <a:r>
              <a:rPr lang="en-US" altLang="en-US"/>
              <a:t>Removed currency symbol (₹)</a:t>
            </a:r>
            <a:r>
              <a:rPr lang="en-IN" altLang="en-US"/>
              <a:t> -- for price and discount cloumns</a:t>
            </a:r>
            <a:endParaRPr lang="en-IN" altLang="en-US"/>
          </a:p>
          <a:p>
            <a:endParaRPr lang="en-US" altLang="en-US"/>
          </a:p>
          <a:p>
            <a:r>
              <a:rPr lang="en-US" altLang="en-US"/>
              <a:t>Converted price </a:t>
            </a:r>
            <a:r>
              <a:rPr lang="en-IN" altLang="en-US"/>
              <a:t>&amp; discount to </a:t>
            </a:r>
            <a:r>
              <a:rPr lang="en-US" altLang="en-US"/>
              <a:t> numeric</a:t>
            </a:r>
            <a:r>
              <a:rPr lang="en-IN" altLang="en-US"/>
              <a:t>al </a:t>
            </a:r>
            <a:r>
              <a:rPr lang="en-US" altLang="en-US"/>
              <a:t> format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Converted rating text into numerical scale (1–5)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Removed duplicates (if any)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Handled missing values</a:t>
            </a:r>
            <a:r>
              <a:rPr lang="en-IN" altLang="en-US"/>
              <a:t> in dataframe</a:t>
            </a:r>
            <a:endParaRPr lang="en-I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sz="4000">
                <a:solidFill>
                  <a:srgbClr val="FF0000"/>
                </a:solidFill>
              </a:rPr>
              <a:t>Data Manipulation Steps</a:t>
            </a:r>
            <a:r>
              <a:rPr lang="en-IN" altLang="en-US" sz="4000">
                <a:solidFill>
                  <a:srgbClr val="FF0000"/>
                </a:solidFill>
              </a:rPr>
              <a:t>:</a:t>
            </a:r>
            <a:endParaRPr lang="en-IN" altLang="en-US" sz="400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253365" y="1484630"/>
            <a:ext cx="10813415" cy="5098415"/>
          </a:xfrm>
        </p:spPr>
        <p:txBody>
          <a:bodyPr/>
          <a:p>
            <a:r>
              <a:rPr lang="en-IN" altLang="en-US"/>
              <a:t>1.</a:t>
            </a:r>
            <a:r>
              <a:rPr lang="en-US" altLang="en-US"/>
              <a:t>Created new column</a:t>
            </a:r>
            <a:r>
              <a:rPr lang="en-IN" altLang="en-US"/>
              <a:t>s </a:t>
            </a:r>
            <a:endParaRPr lang="en-IN" altLang="en-US"/>
          </a:p>
          <a:p>
            <a:r>
              <a:rPr lang="en-IN" altLang="en-US"/>
              <a:t>   Ratings </a:t>
            </a:r>
            <a:endParaRPr lang="en-IN" altLang="en-US"/>
          </a:p>
          <a:p>
            <a:r>
              <a:rPr lang="en-IN" altLang="en-US"/>
              <a:t>   Reviews </a:t>
            </a:r>
            <a:endParaRPr lang="en-IN" altLang="en-US"/>
          </a:p>
          <a:p>
            <a:r>
              <a:rPr lang="en-IN" altLang="en-US"/>
              <a:t>2. removed columns:</a:t>
            </a:r>
            <a:endParaRPr lang="en-IN" altLang="en-US"/>
          </a:p>
          <a:p>
            <a:r>
              <a:rPr lang="en-IN" altLang="en-US"/>
              <a:t>    product name</a:t>
            </a:r>
            <a:endParaRPr lang="en-IN" altLang="en-US"/>
          </a:p>
          <a:p>
            <a:r>
              <a:rPr lang="en-IN" altLang="en-US"/>
              <a:t>    unnamed:0</a:t>
            </a:r>
            <a:endParaRPr lang="en-I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US" sz="3200">
                <a:solidFill>
                  <a:srgbClr val="FF0000"/>
                </a:solidFill>
              </a:rPr>
              <a:t>B</a:t>
            </a:r>
            <a:r>
              <a:rPr lang="en-US" altLang="en-US" sz="3200">
                <a:solidFill>
                  <a:srgbClr val="FF0000"/>
                </a:solidFill>
              </a:rPr>
              <a:t>ivariate Analysis</a:t>
            </a:r>
            <a:r>
              <a:rPr lang="en-IN" altLang="en-US" sz="3200">
                <a:solidFill>
                  <a:srgbClr val="FF0000"/>
                </a:solidFill>
              </a:rPr>
              <a:t>: b/w  Brand and Rating (to find top 5 rated brand) :</a:t>
            </a:r>
            <a:endParaRPr lang="en-IN" altLang="en-US" sz="3200">
              <a:solidFill>
                <a:srgbClr val="FF0000"/>
              </a:solidFill>
            </a:endParaRPr>
          </a:p>
        </p:txBody>
      </p:sp>
      <p:sp>
        <p:nvSpPr>
          <p:cNvPr id="5" name="Text Placeholder 4"/>
          <p:cNvSpPr/>
          <p:nvPr>
            <p:ph type="body" idx="1"/>
          </p:nvPr>
        </p:nvSpPr>
        <p:spPr>
          <a:xfrm>
            <a:off x="710565" y="2032000"/>
            <a:ext cx="3989070" cy="3985260"/>
          </a:xfrm>
        </p:spPr>
        <p:txBody>
          <a:bodyPr/>
          <a:p>
            <a:r>
              <a:rPr lang="en-IN" altLang="en-US" sz="2400"/>
              <a:t>Description :</a:t>
            </a:r>
            <a:endParaRPr lang="en-IN" alt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758190" y="2465070"/>
            <a:ext cx="4668520" cy="424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/>
              <a:t>1. </a:t>
            </a:r>
            <a:r>
              <a:rPr lang="en-US" altLang="en-US"/>
              <a:t>The bar chart represents the Top 5 highest-rated TV brands based on customer ratings data. Among all brands, </a:t>
            </a:r>
            <a:r>
              <a:rPr lang="en-IN" altLang="en-US"/>
              <a:t>(</a:t>
            </a:r>
            <a:r>
              <a:rPr lang="en-US" altLang="en-US"/>
              <a:t>Thomson</a:t>
            </a:r>
            <a:r>
              <a:rPr lang="en-IN" altLang="en-US"/>
              <a:t>) </a:t>
            </a:r>
            <a:r>
              <a:rPr lang="en-US" altLang="en-US"/>
              <a:t> shows the highest number of ratings, indicating strong customer engagement and popularity in the dataset</a:t>
            </a:r>
            <a:endParaRPr lang="en-US" altLang="en-US"/>
          </a:p>
          <a:p>
            <a:endParaRPr lang="en-US" altLang="en-US"/>
          </a:p>
          <a:p>
            <a:r>
              <a:rPr lang="en-IN" altLang="en-US"/>
              <a:t>2. </a:t>
            </a:r>
            <a:r>
              <a:rPr lang="en-US" altLang="en-US"/>
              <a:t>XIAOMI and Foxsky follow as the second and third highest-rated brands, demonstrating competitive market performance and significant customer feedback compared to other brand</a:t>
            </a:r>
            <a:r>
              <a:rPr lang="en-IN" altLang="en-US"/>
              <a:t>s</a:t>
            </a:r>
            <a:endParaRPr lang="en-US" altLang="en-US"/>
          </a:p>
        </p:txBody>
      </p:sp>
      <p:pic>
        <p:nvPicPr>
          <p:cNvPr id="6" name="Picture Placeholder 5" descr="Screenshot (102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321935" y="1338580"/>
            <a:ext cx="6033770" cy="417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FF0000"/>
                </a:solidFill>
              </a:rPr>
              <a:t>Analysis of Avg price for Brand (brand and price) :</a:t>
            </a:r>
            <a:r>
              <a:rPr lang="en-IN" altLang="en-US"/>
              <a:t> </a:t>
            </a:r>
            <a:endParaRPr lang="en-IN" altLang="en-US"/>
          </a:p>
        </p:txBody>
      </p:sp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r>
              <a:rPr lang="en-IN" altLang="en-US"/>
              <a:t>1. </a:t>
            </a:r>
            <a:r>
              <a:rPr lang="en-US" altLang="en-US"/>
              <a:t>The bar chart illustrates the average price distribution across different TV brands. Among all brands, </a:t>
            </a:r>
            <a:r>
              <a:rPr lang="en-IN" altLang="en-US"/>
              <a:t>(</a:t>
            </a:r>
            <a:r>
              <a:rPr lang="en-US" altLang="en-US"/>
              <a:t>Philips</a:t>
            </a:r>
            <a:r>
              <a:rPr lang="en-IN" altLang="en-US"/>
              <a:t>)</a:t>
            </a:r>
            <a:r>
              <a:rPr lang="en-US" altLang="en-US"/>
              <a:t> has the highest average price, indicating its positioning in the premium market segment.</a:t>
            </a:r>
            <a:endParaRPr lang="en-US" altLang="en-US"/>
          </a:p>
          <a:p>
            <a:r>
              <a:rPr lang="en-IN" altLang="en-US"/>
              <a:t>2. </a:t>
            </a:r>
            <a:r>
              <a:rPr lang="en-US" altLang="en-US"/>
              <a:t>XIAOMI and Lumino follow as the second and third highest-priced brands, suggesting a mid-to-premium pricing strategy</a:t>
            </a:r>
            <a:endParaRPr lang="en-US" altLang="en-US"/>
          </a:p>
          <a:p>
            <a:endParaRPr lang="en-IN" altLang="en-US"/>
          </a:p>
        </p:txBody>
      </p:sp>
      <p:pic>
        <p:nvPicPr>
          <p:cNvPr id="6" name="Picture Placeholder 5" descr="Screenshot (103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988060"/>
            <a:ext cx="6172200" cy="48710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US">
                <a:solidFill>
                  <a:srgbClr val="FF0000"/>
                </a:solidFill>
              </a:rPr>
              <a:t>Analysis on rating vs price comparison(to know customer opinion):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>
          <a:xfrm>
            <a:off x="840105" y="2057400"/>
            <a:ext cx="4093210" cy="4526915"/>
          </a:xfrm>
        </p:spPr>
        <p:txBody>
          <a:bodyPr>
            <a:normAutofit lnSpcReduction="20000"/>
          </a:bodyPr>
          <a:p>
            <a:r>
              <a:rPr lang="en-IN" altLang="en-US"/>
              <a:t>1. </a:t>
            </a:r>
            <a:r>
              <a:rPr lang="en-US" altLang="en-US"/>
              <a:t>The scatter plot represents the relationship between TV price and the number of customer ratings. Each data point corresponds to a product, showing how ratings vary across different price levels.</a:t>
            </a:r>
            <a:endParaRPr lang="en-US" altLang="en-US"/>
          </a:p>
          <a:p>
            <a:r>
              <a:rPr lang="en-IN" altLang="en-US"/>
              <a:t>2. </a:t>
            </a:r>
            <a:r>
              <a:rPr lang="en-US" altLang="en-US"/>
              <a:t>The majority of products are clustered in the lower price range (below ₹10,000), indicating that budget-friendly </a:t>
            </a:r>
            <a:r>
              <a:rPr lang="en-IN" altLang="en-US"/>
              <a:t>customer ratings.</a:t>
            </a:r>
            <a:endParaRPr lang="en-IN" altLang="en-US"/>
          </a:p>
          <a:p>
            <a:endParaRPr lang="en-US" altLang="en-US"/>
          </a:p>
        </p:txBody>
      </p:sp>
      <p:pic>
        <p:nvPicPr>
          <p:cNvPr id="8" name="Picture Placeholder 7" descr="Screenshot (105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1158875"/>
            <a:ext cx="6172200" cy="45300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US">
                <a:solidFill>
                  <a:srgbClr val="FF0000"/>
                </a:solidFill>
              </a:rPr>
              <a:t>Univariate Analysis of Brand(to know which one having more products):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>
          <a:xfrm>
            <a:off x="840105" y="2057400"/>
            <a:ext cx="4083685" cy="4294505"/>
          </a:xfrm>
        </p:spPr>
        <p:txBody>
          <a:bodyPr/>
          <a:p>
            <a:r>
              <a:rPr lang="en-IN" altLang="en-US"/>
              <a:t>1. </a:t>
            </a:r>
            <a:r>
              <a:rPr lang="en-US" altLang="en-US"/>
              <a:t>The pie chart illustrates the distribution of TV brands based on the number of products available in the market. It highlights each brand’s percentage contribution to the total product count.</a:t>
            </a:r>
            <a:endParaRPr lang="en-US" altLang="en-US"/>
          </a:p>
          <a:p>
            <a:r>
              <a:rPr lang="en-IN" altLang="en-US"/>
              <a:t>2. </a:t>
            </a:r>
            <a:r>
              <a:rPr lang="en-US" altLang="en-US"/>
              <a:t>Reliance holds the largest market share with approximately 25%, indicating the highest number of available products among all brands.</a:t>
            </a:r>
            <a:endParaRPr lang="en-US" altLang="en-US"/>
          </a:p>
        </p:txBody>
      </p:sp>
      <p:pic>
        <p:nvPicPr>
          <p:cNvPr id="6" name="Picture Placeholder 5" descr="Screenshot (104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1231900"/>
            <a:ext cx="6172200" cy="4384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FF0000"/>
                </a:solidFill>
              </a:rPr>
              <a:t>Price Analysis: (price vs customer satisfaction)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>
          <a:xfrm>
            <a:off x="840105" y="2057400"/>
            <a:ext cx="4040505" cy="4710430"/>
          </a:xfrm>
        </p:spPr>
        <p:txBody>
          <a:bodyPr>
            <a:normAutofit/>
          </a:bodyPr>
          <a:p>
            <a:r>
              <a:rPr lang="en-IN" altLang="en-US"/>
              <a:t>1. </a:t>
            </a:r>
            <a:r>
              <a:rPr lang="en-US" altLang="en-US"/>
              <a:t>The histogram represents the distribution of TV prices in the dataset. It shows how frequently products fall within different price ranges.</a:t>
            </a:r>
            <a:endParaRPr lang="en-US" altLang="en-US"/>
          </a:p>
          <a:p>
            <a:r>
              <a:rPr lang="en-IN" altLang="en-US"/>
              <a:t>2. </a:t>
            </a:r>
            <a:r>
              <a:rPr lang="en-US" altLang="en-US"/>
              <a:t>The majority of TVs are concentrated in the lower price range (approximately ₹5,000 – ₹10,000), indicating that the market is largely dominated by budget-friendly models.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6" name="Picture Placeholder 5" descr="Screenshot (106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1121410"/>
            <a:ext cx="6172200" cy="46050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FF0000"/>
                </a:solidFill>
              </a:rPr>
              <a:t>Rating Analysis (histogram ) 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r>
              <a:rPr lang="en-IN" altLang="en-US"/>
              <a:t>1. </a:t>
            </a:r>
            <a:r>
              <a:rPr lang="en-US" altLang="en-US"/>
              <a:t>The ratings predominantly cluster around 4.0, indicating that most observations fall within a high-rating range, suggesting generally positive evaluations</a:t>
            </a:r>
            <a:endParaRPr lang="en-US" altLang="en-US"/>
          </a:p>
          <a:p>
            <a:r>
              <a:rPr lang="en-IN" altLang="en-US"/>
              <a:t>2. </a:t>
            </a:r>
            <a:r>
              <a:rPr lang="en-US" altLang="en-US"/>
              <a:t>The distribution appears slightly concentrated between 3.7 and 4.2, with fewer instances at the lower (around 3.5) and higher (above 4.3) extremes</a:t>
            </a:r>
            <a:endParaRPr lang="en-US" altLang="en-US"/>
          </a:p>
          <a:p>
            <a:endParaRPr lang="en-US" altLang="en-US"/>
          </a:p>
          <a:p>
            <a:endParaRPr lang="en-IN" altLang="en-US"/>
          </a:p>
        </p:txBody>
      </p:sp>
      <p:pic>
        <p:nvPicPr>
          <p:cNvPr id="6" name="Picture Placeholder 5" descr="Screenshot (107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183505" y="1249045"/>
            <a:ext cx="6172200" cy="43491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56590" y="96520"/>
            <a:ext cx="4115435" cy="1960880"/>
          </a:xfrm>
        </p:spPr>
        <p:txBody>
          <a:bodyPr>
            <a:normAutofit fontScale="90000"/>
          </a:bodyPr>
          <a:p>
            <a:r>
              <a:rPr lang="en-IN" altLang="en-US">
                <a:solidFill>
                  <a:srgbClr val="FF0000"/>
                </a:solidFill>
              </a:rPr>
              <a:t>Multi-variate Analysis:b/w price , ratings and reviews as  (to know relation b/w them):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r>
              <a:rPr lang="en-IN" altLang="en-US"/>
              <a:t>1. </a:t>
            </a:r>
            <a:r>
              <a:rPr lang="en-US" altLang="en-US"/>
              <a:t>a correlation heatmap </a:t>
            </a:r>
            <a:r>
              <a:rPr lang="en-IN" altLang="en-US"/>
              <a:t>tells </a:t>
            </a:r>
            <a:r>
              <a:rPr lang="en-US" altLang="en-US"/>
              <a:t>the relationship between Price, Ratings, and Reviews</a:t>
            </a:r>
            <a:endParaRPr lang="en-US" altLang="en-US"/>
          </a:p>
          <a:p>
            <a:r>
              <a:rPr lang="en-IN" altLang="en-US"/>
              <a:t>2. </a:t>
            </a:r>
            <a:r>
              <a:rPr lang="en-US" altLang="en-US"/>
              <a:t>A strong positive correlation (0.97) is observed between Ratings and Reviews, indicating that items with higher ratings tend to receive a greater number of reviews.</a:t>
            </a:r>
            <a:endParaRPr lang="en-US" altLang="en-US"/>
          </a:p>
        </p:txBody>
      </p:sp>
      <p:pic>
        <p:nvPicPr>
          <p:cNvPr id="6" name="Picture Placeholder 5" descr="Screenshot (108)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245100" y="989965"/>
            <a:ext cx="6048375" cy="4867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50190" y="150495"/>
            <a:ext cx="4496435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olidFill>
                  <a:srgbClr val="FF0000"/>
                </a:solidFill>
              </a:rPr>
              <a:t>Key BusinessQuestion</a:t>
            </a:r>
            <a:r>
              <a:rPr lang="en-IN" altLang="en-US" sz="2800">
                <a:solidFill>
                  <a:srgbClr val="FF0000"/>
                </a:solidFill>
              </a:rPr>
              <a:t>:</a:t>
            </a:r>
            <a:r>
              <a:rPr lang="en-US" altLang="en-US" sz="2800">
                <a:solidFill>
                  <a:srgbClr val="FF0000"/>
                </a:solidFill>
              </a:rPr>
              <a:t> </a:t>
            </a:r>
            <a:r>
              <a:rPr lang="en-US" altLang="en-US"/>
              <a:t> 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0" y="968375"/>
            <a:ext cx="12192000" cy="5932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800"/>
              <a:t>  1. is customers are always prefer expensive products </a:t>
            </a:r>
            <a:r>
              <a:rPr lang="en-US" altLang="en-US" sz="2800"/>
              <a:t>?</a:t>
            </a:r>
            <a:endParaRPr lang="en-US" altLang="en-US" sz="2800"/>
          </a:p>
          <a:p>
            <a:r>
              <a:rPr lang="en-IN" altLang="en-US" sz="2800"/>
              <a:t>  ans : NO </a:t>
            </a:r>
            <a:endParaRPr lang="en-IN" altLang="en-US" sz="2800"/>
          </a:p>
          <a:p>
            <a:endParaRPr lang="en-IN" altLang="en-US" sz="2800"/>
          </a:p>
          <a:p>
            <a:r>
              <a:rPr lang="en-IN" altLang="en-US" sz="2800"/>
              <a:t>  2. What are the top rated brands</a:t>
            </a:r>
            <a:r>
              <a:rPr lang="en-US" altLang="en-US" sz="2800"/>
              <a:t>s</a:t>
            </a:r>
            <a:r>
              <a:rPr lang="en-IN" altLang="en-US" sz="2800"/>
              <a:t> </a:t>
            </a:r>
            <a:r>
              <a:rPr lang="en-US" altLang="en-US" sz="2800"/>
              <a:t>?</a:t>
            </a:r>
            <a:endParaRPr lang="en-US" altLang="en-US" sz="2800"/>
          </a:p>
          <a:p>
            <a:r>
              <a:rPr lang="en-IN" altLang="en-US" sz="2800"/>
              <a:t>  ans : Thomson and Xiaomi</a:t>
            </a:r>
            <a:endParaRPr lang="en-IN" altLang="en-US" sz="2800"/>
          </a:p>
          <a:p>
            <a:endParaRPr lang="en-IN" altLang="en-US" sz="2800"/>
          </a:p>
          <a:p>
            <a:r>
              <a:rPr lang="en-IN" altLang="en-US" sz="2800"/>
              <a:t>  3. What is the min avg price starting from </a:t>
            </a:r>
            <a:r>
              <a:rPr lang="en-US" altLang="en-US" sz="2800"/>
              <a:t>?</a:t>
            </a:r>
            <a:endParaRPr lang="en-US" altLang="en-US" sz="2800"/>
          </a:p>
          <a:p>
            <a:r>
              <a:rPr lang="en-IN" altLang="en-US" sz="2800"/>
              <a:t>  ans : it’s starts from 10k </a:t>
            </a:r>
            <a:endParaRPr lang="en-IN" altLang="en-US" sz="2800"/>
          </a:p>
          <a:p>
            <a:endParaRPr lang="en-IN" altLang="en-US" sz="2800"/>
          </a:p>
          <a:p>
            <a:r>
              <a:rPr lang="en-IN" altLang="en-US" sz="2800"/>
              <a:t>  4. </a:t>
            </a:r>
            <a:r>
              <a:rPr lang="en-US" altLang="en-US" sz="2800"/>
              <a:t>Are expensive </a:t>
            </a:r>
            <a:r>
              <a:rPr lang="en-IN" altLang="en-US" sz="2800"/>
              <a:t>TV’s </a:t>
            </a:r>
            <a:r>
              <a:rPr lang="en-US" altLang="en-US" sz="2800"/>
              <a:t> better rated</a:t>
            </a:r>
            <a:r>
              <a:rPr lang="en-IN" altLang="en-US" sz="2800"/>
              <a:t> </a:t>
            </a:r>
            <a:r>
              <a:rPr lang="en-US" altLang="en-US" sz="2800"/>
              <a:t>?</a:t>
            </a:r>
            <a:endParaRPr lang="en-US" altLang="en-US" sz="2800"/>
          </a:p>
          <a:p>
            <a:r>
              <a:rPr lang="en-IN" altLang="en-US" sz="2800"/>
              <a:t>  ans : NO </a:t>
            </a:r>
            <a:endParaRPr lang="en-IN" altLang="en-US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72720" y="98425"/>
            <a:ext cx="11915775" cy="6655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>
                <a:solidFill>
                  <a:srgbClr val="FF0000"/>
                </a:solidFill>
              </a:rPr>
              <a:t>Conclusion (Key finding overal</a:t>
            </a:r>
            <a:r>
              <a:rPr lang="en-IN" altLang="en-US" sz="2400">
                <a:solidFill>
                  <a:srgbClr val="FF0000"/>
                </a:solidFill>
              </a:rPr>
              <a:t>) :</a:t>
            </a:r>
            <a:endParaRPr lang="en-IN" altLang="en-US" sz="2400">
              <a:solidFill>
                <a:srgbClr val="FF0000"/>
              </a:solidFill>
            </a:endParaRPr>
          </a:p>
          <a:p>
            <a:endParaRPr lang="en-IN" altLang="en-US" sz="2400"/>
          </a:p>
          <a:p>
            <a:r>
              <a:rPr lang="en-IN" altLang="en-US" sz="2400"/>
              <a:t> </a:t>
            </a:r>
            <a:r>
              <a:rPr lang="en-US" altLang="en-US" sz="2400"/>
              <a:t>1. the thomson and xiaomi are having more ratings by customers in market 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 </a:t>
            </a:r>
            <a:r>
              <a:rPr lang="en-US" altLang="en-US" sz="2400"/>
              <a:t>2. Majority of products fall in medium price range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 </a:t>
            </a:r>
            <a:r>
              <a:rPr lang="en-US" altLang="en-US" sz="2400"/>
              <a:t>3. Most products have average ratings (3.5 stars)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 </a:t>
            </a:r>
            <a:r>
              <a:rPr lang="en-US" altLang="en-US" sz="2400"/>
              <a:t> 4. No strong correlation between price with respect to ratings and reviews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  </a:t>
            </a:r>
            <a:r>
              <a:rPr lang="en-US" altLang="en-US" sz="2400"/>
              <a:t>5. the reliance and uniboom having more products in market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This tells us :</a:t>
            </a:r>
            <a:endParaRPr lang="en-US" altLang="en-US" sz="2400"/>
          </a:p>
          <a:p>
            <a:r>
              <a:rPr lang="en-IN" altLang="en-US" sz="2400"/>
              <a:t> * </a:t>
            </a:r>
            <a:r>
              <a:rPr lang="en-US" altLang="en-US" sz="2400"/>
              <a:t> Customers do not always prefer expensive products. they look less price  one having better ratings </a:t>
            </a:r>
            <a:endParaRPr lang="en-US" altLang="en-US" sz="2400"/>
          </a:p>
          <a:p>
            <a:r>
              <a:rPr lang="en-IN" altLang="en-US" sz="2400"/>
              <a:t>*</a:t>
            </a:r>
            <a:r>
              <a:rPr lang="en-US" altLang="en-US" sz="2400"/>
              <a:t> </a:t>
            </a:r>
            <a:r>
              <a:rPr lang="en-IN" altLang="en-US" sz="2400"/>
              <a:t> </a:t>
            </a:r>
            <a:r>
              <a:rPr lang="en-US" altLang="en-US" sz="2400"/>
              <a:t>that ratings aslo given by previous customer</a:t>
            </a:r>
            <a:endParaRPr lang="en-US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47625" y="116840"/>
            <a:ext cx="3902710" cy="687705"/>
          </a:xfrm>
        </p:spPr>
        <p:txBody>
          <a:bodyPr>
            <a:normAutofit/>
          </a:bodyPr>
          <a:p>
            <a:r>
              <a:rPr lang="en-US" altLang="en-US">
                <a:solidFill>
                  <a:srgbClr val="FF0000"/>
                </a:solidFill>
              </a:rPr>
              <a:t>Challenges Faced</a:t>
            </a:r>
            <a:r>
              <a:rPr lang="en-IN" altLang="en-US">
                <a:solidFill>
                  <a:srgbClr val="FF0000"/>
                </a:solidFill>
              </a:rPr>
              <a:t>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85420" y="805180"/>
            <a:ext cx="8660765" cy="3943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800"/>
              <a:t>1. </a:t>
            </a:r>
            <a:r>
              <a:rPr lang="en-US" altLang="en-US" sz="2800"/>
              <a:t>Understanding HTML </a:t>
            </a:r>
            <a:r>
              <a:rPr lang="en-IN" altLang="en-US" sz="2800"/>
              <a:t>&amp; website </a:t>
            </a:r>
            <a:r>
              <a:rPr lang="en-US" altLang="en-US" sz="2800"/>
              <a:t>structure</a:t>
            </a:r>
            <a:endParaRPr lang="en-US" altLang="en-US" sz="2800"/>
          </a:p>
          <a:p>
            <a:endParaRPr lang="en-US" altLang="en-US" sz="2800"/>
          </a:p>
          <a:p>
            <a:r>
              <a:rPr lang="en-IN" altLang="en-US" sz="2800"/>
              <a:t>2.  when scraping data from flipkat website</a:t>
            </a:r>
            <a:endParaRPr lang="en-IN" altLang="en-US" sz="2800"/>
          </a:p>
          <a:p>
            <a:endParaRPr lang="en-IN" altLang="en-US" sz="2800"/>
          </a:p>
          <a:p>
            <a:r>
              <a:rPr lang="en-IN" altLang="en-US" sz="2800"/>
              <a:t>3. </a:t>
            </a:r>
            <a:r>
              <a:rPr lang="en-US" altLang="en-US" sz="2800"/>
              <a:t>Avoiding </a:t>
            </a:r>
            <a:r>
              <a:rPr lang="en-IN" altLang="en-US" sz="2800"/>
              <a:t> of </a:t>
            </a:r>
            <a:r>
              <a:rPr lang="en-US" altLang="en-US" sz="2800"/>
              <a:t>website blocking</a:t>
            </a:r>
            <a:r>
              <a:rPr lang="en-IN" altLang="en-US" sz="2800"/>
              <a:t> </a:t>
            </a:r>
            <a:endParaRPr lang="en-IN" altLang="en-US" sz="2800"/>
          </a:p>
          <a:p>
            <a:endParaRPr lang="en-IN" altLang="en-US" sz="2800"/>
          </a:p>
          <a:p>
            <a:r>
              <a:rPr lang="en-IN" altLang="en-US" sz="2800"/>
              <a:t>4. data cleaning &amp; manipulation of dataset </a:t>
            </a:r>
            <a:endParaRPr lang="en-IN" altLang="en-US"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263525" y="260985"/>
            <a:ext cx="4341495" cy="513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rgbClr val="FF0000"/>
                </a:solidFill>
              </a:rPr>
              <a:t>Your Experience</a:t>
            </a:r>
            <a:r>
              <a:rPr lang="en-IN" altLang="en-US" sz="2400">
                <a:solidFill>
                  <a:srgbClr val="FF0000"/>
                </a:solidFill>
              </a:rPr>
              <a:t> </a:t>
            </a:r>
            <a:r>
              <a:rPr lang="en-US" altLang="en-US" sz="2400">
                <a:solidFill>
                  <a:srgbClr val="FF0000"/>
                </a:solidFill>
              </a:rPr>
              <a:t>working on Web Scraping</a:t>
            </a:r>
            <a:r>
              <a:rPr lang="en-IN" altLang="en-US" sz="2400">
                <a:solidFill>
                  <a:srgbClr val="FF0000"/>
                </a:solidFill>
              </a:rPr>
              <a:t> :</a:t>
            </a:r>
            <a:r>
              <a:rPr lang="en-US" altLang="en-US" sz="2400">
                <a:solidFill>
                  <a:srgbClr val="FF0000"/>
                </a:solidFill>
              </a:rPr>
              <a:t> 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2085" y="1250315"/>
            <a:ext cx="11849100" cy="552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400"/>
              <a:t>1.</a:t>
            </a:r>
            <a:r>
              <a:rPr lang="en-US" altLang="en-US" sz="2400"/>
              <a:t>This project helped me: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2. to gain real time project experience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3. </a:t>
            </a:r>
            <a:r>
              <a:rPr lang="en-US" altLang="en-US" sz="2400"/>
              <a:t>Understand real-world data extraction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4. </a:t>
            </a:r>
            <a:r>
              <a:rPr lang="en-US" altLang="en-US" sz="2400"/>
              <a:t>Improve data cleaning skills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5.</a:t>
            </a:r>
            <a:r>
              <a:rPr lang="en-US" altLang="en-US" sz="2400"/>
              <a:t>Strengthen EDA techniques</a:t>
            </a:r>
            <a:endParaRPr lang="en-US" altLang="en-US" sz="2400"/>
          </a:p>
          <a:p>
            <a:endParaRPr lang="en-US" altLang="en-US" sz="2400"/>
          </a:p>
          <a:p>
            <a:r>
              <a:rPr lang="en-IN" altLang="en-US" sz="2400"/>
              <a:t>6. </a:t>
            </a:r>
            <a:r>
              <a:rPr lang="en-US" altLang="en-US" sz="2400"/>
              <a:t>Gain practical industry exposure</a:t>
            </a:r>
            <a:endParaRPr lang="en-US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Placeholder 4" descr="IMG_20260303_125301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2762885" y="807720"/>
            <a:ext cx="668274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6452</Words>
  <Application>WPS Presentation</Application>
  <PresentationFormat/>
  <Paragraphs>237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Lato Black</vt:lpstr>
      <vt:lpstr>Microsoft YaHei</vt:lpstr>
      <vt:lpstr>Arial Unicode MS</vt:lpstr>
      <vt:lpstr>Libre Baskerville</vt:lpstr>
      <vt:lpstr>Office Theme</vt:lpstr>
      <vt:lpstr>PowerPoint 演示文稿</vt:lpstr>
      <vt:lpstr>PowerPoint 演示文稿</vt:lpstr>
      <vt:lpstr>Agenda:</vt:lpstr>
      <vt:lpstr>Objective of the Project:</vt:lpstr>
      <vt:lpstr>Web Scraping – Details (Websites, Processor you followed)  Summary of the Data :</vt:lpstr>
      <vt:lpstr>Process Followed: </vt:lpstr>
      <vt:lpstr>Summary of Data: </vt:lpstr>
      <vt:lpstr>Data Cleaning Steps:</vt:lpstr>
      <vt:lpstr>Data Manipulation Steps:</vt:lpstr>
      <vt:lpstr>Bivariate Analysis: b/w  Brand and Rating (to find top 5 rated brand) :</vt:lpstr>
      <vt:lpstr>Analysis of Avg price for Brand (brand and price) : </vt:lpstr>
      <vt:lpstr>Analysis on rating vs price comparison(to know customer opinion):</vt:lpstr>
      <vt:lpstr>Univariate Analysis of Brand(to know which one having more products):</vt:lpstr>
      <vt:lpstr>Price Analysis: (price vs customer satisfaction)</vt:lpstr>
      <vt:lpstr>Rating Analysis (histogram ) </vt:lpstr>
      <vt:lpstr>Multi-variate Analysis:b/w price , ratings and reviews as  (to know relation b/w them):</vt:lpstr>
      <vt:lpstr>PowerPoint 演示文稿</vt:lpstr>
      <vt:lpstr>PowerPoint 演示文稿</vt:lpstr>
      <vt:lpstr>Challenges Faced: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WPS_1677419230</cp:lastModifiedBy>
  <cp:revision>13</cp:revision>
  <dcterms:created xsi:type="dcterms:W3CDTF">2026-03-01T14:10:00Z</dcterms:created>
  <dcterms:modified xsi:type="dcterms:W3CDTF">2026-04-20T15:13:05Z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6F08688D32D9473D80FEA8FD7EBF55BB_13</vt:lpwstr>
  </property>
  <property fmtid="{D5CDD505-2E9C-101B-9397-08002B2CF9AE}" pid="3" name="KSOProductBuildVer">
    <vt:lpwstr>1033-12.1.0.25242</vt:lpwstr>
  </property>
</Properties>
</file>